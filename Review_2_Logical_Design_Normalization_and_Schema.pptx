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4389120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WOXSEN UNIVERSITY | SCHOOL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8BDF8"/>
                </a:solidFill>
                <a:latin typeface="Arial"/>
              </a:rPr>
              <a:t>REVIEW 2 — LOGICAL DESIGN, NORMALIZATION &amp; SCHEMA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Arial"/>
              </a:rPr>
              <a:t>Cinema Screening and Ticket Booking System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CBD5E1"/>
                </a:solidFill>
                <a:latin typeface="Calibri"/>
              </a:rPr>
              <a:t>Review 2: Relational Schema Mapping, 3NF Normalization, Constraints &amp; Triggers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600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/>
            <a:r>
              <a:rPr sz="1400" b="1">
                <a:solidFill>
                  <a:srgbClr val="F8FAFC"/>
                </a:solidFill>
                <a:latin typeface="Arial"/>
              </a:rPr>
              <a:t>Student: G. Abhinav  |  Roll No: WU0102089  |  Section: AIML Rhinos (Batch 2025–2029)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94A3B8"/>
                </a:solidFill>
                <a:latin typeface="Calibri"/>
              </a:rPr>
              <a:t>Course: Database Management Systems (DBMS) — PBL Activity  |  Faculty Guide: Prof. Sahithi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Calibri"/>
              </a:rPr>
              <a:t>Program: B.Tech in Computer Science and Engineering (AI &amp; ML)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RELATIONAL TRANSFORMATION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Relational Mapping: 15 Relations with Comprehensive Integrity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2: Logical Design &amp; Normalization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04307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Primary Keys &amp; Referential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Surrogate Primary Keys: </a:t>
            </a:r>
            <a:r>
              <a:rPr sz="1150">
                <a:solidFill>
                  <a:srgbClr val="475569"/>
                </a:solidFill>
                <a:latin typeface="Calibri"/>
              </a:rPr>
              <a:t>Every relation employs a clean AUTOINCREMENT surrogate integer PK for indexing and fast joins.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Referential Integrity: </a:t>
            </a:r>
            <a:r>
              <a:rPr sz="1150">
                <a:solidFill>
                  <a:srgbClr val="475569"/>
                </a:solidFill>
                <a:latin typeface="Calibri"/>
              </a:rPr>
              <a:t>Strict FOREIGN KEY definitions with ON DELETE CASCADE on screens, seats, and order items.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Delete Restrictions: </a:t>
            </a:r>
            <a:r>
              <a:rPr sz="1150">
                <a:solidFill>
                  <a:srgbClr val="475569"/>
                </a:solidFill>
                <a:latin typeface="Calibri"/>
              </a:rPr>
              <a:t>ON DELETE RESTRICT on core cinemas, movies, customers, and bookings prevents accidental orphan deletions.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Candidate Superkeys: </a:t>
            </a:r>
            <a:r>
              <a:rPr sz="1150">
                <a:solidFill>
                  <a:srgbClr val="475569"/>
                </a:solidFill>
                <a:latin typeface="Calibri"/>
              </a:rPr>
              <a:t>Strict uniqueness enforced on cinemas(email), customers(email), and tickets(barcode_hash).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5204307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Domain &amp; Table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Strictly Positive Quantities: </a:t>
            </a:r>
            <a:r>
              <a:rPr sz="1150">
                <a:solidFill>
                  <a:srgbClr val="475569"/>
                </a:solidFill>
                <a:latin typeface="Calibri"/>
              </a:rPr>
              <a:t>CHECK(total_screens &gt; 0), CHECK(duration_minutes &gt; 0), CHECK(quantity &gt; 0), and CHECK(amount &gt; 0).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Enumerated Value Domains: </a:t>
            </a:r>
            <a:r>
              <a:rPr sz="1150">
                <a:solidFill>
                  <a:srgbClr val="475569"/>
                </a:solidFill>
                <a:latin typeface="Calibri"/>
              </a:rPr>
              <a:t>Screen formats restricted to Standard, IMAX 3D, 4DX, Gold VIP; Ratings restricted to U, UA, A, 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Chronological Order: </a:t>
            </a:r>
            <a:r>
              <a:rPr sz="1150">
                <a:solidFill>
                  <a:srgbClr val="475569"/>
                </a:solidFill>
                <a:latin typeface="Calibri"/>
              </a:rPr>
              <a:t>CHECK(start_time &lt; end_time) enforces chronological validity across all scheduled showtime slots.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Partial Unique Index: </a:t>
            </a:r>
            <a:r>
              <a:rPr sz="1150">
                <a:solidFill>
                  <a:srgbClr val="475569"/>
                </a:solidFill>
                <a:latin typeface="Calibri"/>
              </a:rPr>
              <a:t>UNIQUE(screening_id, seat_id) WHERE status='Booked' completely eliminates double-booking at database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MATHEMATICAL RIGOR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Normalization from 1NF to 3NF &amp; BCNF: Eliminating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2: Logical Design &amp; Normalization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First Normal Form (1NF)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Atomic Attributes: </a:t>
            </a:r>
            <a:r>
              <a:rPr sz="1150">
                <a:solidFill>
                  <a:srgbClr val="475569"/>
                </a:solidFill>
                <a:latin typeface="Calibri"/>
              </a:rPr>
              <a:t>Every attribute contains strictly atomic, indivisible values from its domain.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No Repeating Groups: </a:t>
            </a:r>
            <a:r>
              <a:rPr sz="1150">
                <a:solidFill>
                  <a:srgbClr val="475569"/>
                </a:solidFill>
                <a:latin typeface="Calibri"/>
              </a:rPr>
              <a:t>Multi-seat bookings and concession items split into dedicated child relations (booked_seats, order_items).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Unique Tuple Identification: </a:t>
            </a:r>
            <a:r>
              <a:rPr sz="1150">
                <a:solidFill>
                  <a:srgbClr val="475569"/>
                </a:solidFill>
                <a:latin typeface="Calibri"/>
              </a:rPr>
              <a:t>Every row is uniquely addressable via its defined primary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418" y="1691640"/>
            <a:ext cx="336285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Second Normal Form (2NF)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Full Functional Dependency: </a:t>
            </a:r>
            <a:r>
              <a:rPr sz="1150">
                <a:solidFill>
                  <a:srgbClr val="475569"/>
                </a:solidFill>
                <a:latin typeface="Calibri"/>
              </a:rPr>
              <a:t>Every non-prime attribute is fully functionally dependent on the entire primary key.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No Partial Key Dependencies: </a:t>
            </a:r>
            <a:r>
              <a:rPr sz="1150">
                <a:solidFill>
                  <a:srgbClr val="475569"/>
                </a:solidFill>
                <a:latin typeface="Calibri"/>
              </a:rPr>
              <a:t>Subtotals depend on composite {order_id, item_id}; seat allocations decoupled from booking master.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Eliminated Redundancy: </a:t>
            </a:r>
            <a:r>
              <a:rPr sz="1150">
                <a:solidFill>
                  <a:srgbClr val="475569"/>
                </a:solidFill>
                <a:latin typeface="Calibri"/>
              </a:rPr>
              <a:t>Screen and cinema attributes isolated to prevent repetitive theater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Third Normal Form (3NF / BCNF)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8484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Transitive FDs: </a:t>
            </a:r>
            <a:r>
              <a:rPr sz="1150">
                <a:solidFill>
                  <a:srgbClr val="475569"/>
                </a:solidFill>
                <a:latin typeface="Calibri"/>
              </a:rPr>
              <a:t>Eliminated transitive chains (e.g. Booking -&gt; Screening -&gt; Screen -&gt; Cinema) by factoring out master entities.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Superkey Determinants: </a:t>
            </a:r>
            <a:r>
              <a:rPr sz="1150">
                <a:solidFill>
                  <a:srgbClr val="475569"/>
                </a:solidFill>
                <a:latin typeface="Calibri"/>
              </a:rPr>
              <a:t>For every non-trivial functional dependency X -&gt; Y, X is a verified superkey across all 15 relations.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Anomalies: </a:t>
            </a:r>
            <a:r>
              <a:rPr sz="1150">
                <a:solidFill>
                  <a:srgbClr val="475569"/>
                </a:solidFill>
                <a:latin typeface="Calibri"/>
              </a:rPr>
              <a:t>Guarantees complete immunity against insertion, update, and deletion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PROCEDURAL INTEGRITY RULES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Dual-Firing Triggers: 15-Min Turnaround Buffer &amp; Cumulative Refund Caps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2: Logical Design &amp; Normalization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04307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Screen Overlap Triggers (INSERT &amp; UPDATE)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Dual-Event Coverage: </a:t>
            </a:r>
            <a:r>
              <a:rPr sz="1150">
                <a:solidFill>
                  <a:srgbClr val="475569"/>
                </a:solidFill>
                <a:latin typeface="Calibri"/>
              </a:rPr>
              <a:t>trg_prevent_screen_overlap_insert and trg_prevent_screen_overlap_update intercept both creations and edits.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15-Min Cleaning Buffer: </a:t>
            </a:r>
            <a:r>
              <a:rPr sz="1150">
                <a:solidFill>
                  <a:srgbClr val="475569"/>
                </a:solidFill>
                <a:latin typeface="Calibri"/>
              </a:rPr>
              <a:t>Evaluates time(end_time, '+15 minutes') to ensure mandatory auditorium turnaround cleaning buffer.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Collision Condition: </a:t>
            </a:r>
            <a:r>
              <a:rPr sz="1150">
                <a:solidFill>
                  <a:srgbClr val="475569"/>
                </a:solidFill>
                <a:latin typeface="Calibri"/>
              </a:rPr>
              <a:t>Asserts (NEW.start &lt; end+15m) AND (NEW.end+15m &gt; start) to block simultaneous screen occupancy.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Update Safety: </a:t>
            </a:r>
            <a:r>
              <a:rPr sz="1150">
                <a:solidFill>
                  <a:srgbClr val="475569"/>
                </a:solidFill>
                <a:latin typeface="Calibri"/>
              </a:rPr>
              <a:t>Ignores current screening_id during updates and bypasses cancelled showtime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5204307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Cumulative Refund Ceiling Triggers (INSERT &amp; UPDATE)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Dual-Event Coverage: </a:t>
            </a:r>
            <a:r>
              <a:rPr sz="1150">
                <a:solidFill>
                  <a:srgbClr val="475569"/>
                </a:solidFill>
                <a:latin typeface="Calibri"/>
              </a:rPr>
              <a:t>trg_check_refund_limit_insert and trg_check_refund_limit_update govern all refund disbursements.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Cumulative Tracking: </a:t>
            </a:r>
            <a:r>
              <a:rPr sz="1150">
                <a:solidFill>
                  <a:srgbClr val="475569"/>
                </a:solidFill>
                <a:latin typeface="Calibri"/>
              </a:rPr>
              <a:t>Computes COALESCE(SUM(refund_amount), 0) + NEW.refund_amount against the original payments.amount.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Partial Refund Safety: </a:t>
            </a:r>
            <a:r>
              <a:rPr sz="1150">
                <a:solidFill>
                  <a:srgbClr val="475569"/>
                </a:solidFill>
                <a:latin typeface="Calibri"/>
              </a:rPr>
              <a:t>Allows multiple legitimate partial refunds while strictly preventing cumulative financial overflow.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Instant Abort: </a:t>
            </a:r>
            <a:r>
              <a:rPr sz="1150">
                <a:solidFill>
                  <a:srgbClr val="475569"/>
                </a:solidFill>
                <a:latin typeface="Calibri"/>
              </a:rPr>
              <a:t>Executes RAISE(ABORT) with an explicit integrity violation message upon any violation attempt.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TRANSACTION MANAGEMENT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ACID Transaction Boundaries &amp; Complete CRUD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2: Logical Design &amp; Normalization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04307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Atomicity &amp;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Multi-Row Bookings: </a:t>
            </a:r>
            <a:r>
              <a:rPr sz="1150">
                <a:solidFill>
                  <a:srgbClr val="475569"/>
                </a:solidFill>
                <a:latin typeface="Calibri"/>
              </a:rPr>
              <a:t>BEGIN TRANSACTION encapsulates booking header, seat allocations, ticket issuance, and payment ledger.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All-or-Nothing Guarantee: </a:t>
            </a:r>
            <a:r>
              <a:rPr sz="1150">
                <a:solidFill>
                  <a:srgbClr val="475569"/>
                </a:solidFill>
                <a:latin typeface="Calibri"/>
              </a:rPr>
              <a:t>Any seat collision or payment failure triggers immediate conn.rollback(), leaving zero orphan rows.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Foreign Key Enforcement: </a:t>
            </a:r>
            <a:r>
              <a:rPr sz="1150">
                <a:solidFill>
                  <a:srgbClr val="475569"/>
                </a:solidFill>
                <a:latin typeface="Calibri"/>
              </a:rPr>
              <a:t>PRAGMA foreign_keys = ON actively enforced across all database connections.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691640"/>
            <a:ext cx="5204307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5204307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Isolation &amp; Durability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377440"/>
            <a:ext cx="4801971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Concurrency Isolation: </a:t>
            </a:r>
            <a:r>
              <a:rPr sz="1150">
                <a:solidFill>
                  <a:srgbClr val="475569"/>
                </a:solidFill>
                <a:latin typeface="Calibri"/>
              </a:rPr>
              <a:t>Partial unique indexes guarantee serialization of conflicting seat reservation attempts.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Write-Ahead Logging: </a:t>
            </a:r>
            <a:r>
              <a:rPr sz="1150">
                <a:solidFill>
                  <a:srgbClr val="475569"/>
                </a:solidFill>
                <a:latin typeface="Calibri"/>
              </a:rPr>
              <a:t>Committed transactions immediately persist to durable SQLite storage.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Soft Deletion Audit: </a:t>
            </a:r>
            <a:r>
              <a:rPr sz="1150">
                <a:solidFill>
                  <a:srgbClr val="475569"/>
                </a:solidFill>
                <a:latin typeface="Calibri"/>
              </a:rPr>
              <a:t>Cancellations update booking and ticket states to 'Cancelled' rather than deleting audit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E7490"/>
                </a:solidFill>
                <a:latin typeface="Arial"/>
              </a:rPr>
              <a:t>REVIEW 2 ACCOMPLISHMENTS</a:t>
            </a:r>
          </a:p>
          <a:p>
            <a:r>
              <a:rPr sz="2400" b="1">
                <a:solidFill>
                  <a:srgbClr val="0F172A"/>
                </a:solidFill>
                <a:latin typeface="Arial"/>
              </a:rPr>
              <a:t>Logical Schema Verification, Zero-Anomaly Proof &amp; DDL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Calibri"/>
              </a:rPr>
              <a:t>DBMS PBL Activity  |  Review 2: Logical Design &amp; Normalization  |  G. Abhinav (WU0102089)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100% 3NF/BCNF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15 Relations Formalized: </a:t>
            </a:r>
            <a:r>
              <a:rPr sz="1150">
                <a:solidFill>
                  <a:srgbClr val="475569"/>
                </a:solidFill>
                <a:latin typeface="Calibri"/>
              </a:rPr>
              <a:t>All relations documented with data types, nullability, and primary/foreign keys.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Update Anomalies: </a:t>
            </a:r>
            <a:r>
              <a:rPr sz="1150">
                <a:solidFill>
                  <a:srgbClr val="475569"/>
                </a:solidFill>
                <a:latin typeface="Calibri"/>
              </a:rPr>
              <a:t>Eliminated transitive and partial dependencies across all functional entities.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Comprehensive Data Dictionary: </a:t>
            </a:r>
            <a:r>
              <a:rPr sz="1150">
                <a:solidFill>
                  <a:srgbClr val="475569"/>
                </a:solidFill>
                <a:latin typeface="Calibri"/>
              </a:rPr>
              <a:t>Formulated 95 complete attribute definitions with verified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418" y="1691640"/>
            <a:ext cx="3362858" cy="5669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Dual Triggers Verified in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Screen Overlap Blocked: </a:t>
            </a:r>
            <a:r>
              <a:rPr sz="1150">
                <a:solidFill>
                  <a:srgbClr val="475569"/>
                </a:solidFill>
                <a:latin typeface="Calibri"/>
              </a:rPr>
              <a:t>Verified that both show creation and rescheduling enforce the 15-min cleaning buffer.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Cumulative Refunds Capped: </a:t>
            </a:r>
            <a:r>
              <a:rPr sz="1150">
                <a:solidFill>
                  <a:srgbClr val="475569"/>
                </a:solidFill>
                <a:latin typeface="Calibri"/>
              </a:rPr>
              <a:t>Verified that multi-part refunds cannot exceed initial payment amounts.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Database Corruption: </a:t>
            </a:r>
            <a:r>
              <a:rPr sz="1150">
                <a:solidFill>
                  <a:srgbClr val="475569"/>
                </a:solidFill>
                <a:latin typeface="Calibri"/>
              </a:rPr>
              <a:t>All schema scripts verified with 0 syntax or execution errors in SQLite.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91640"/>
            <a:ext cx="3362858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691640"/>
            <a:ext cx="3362858" cy="5669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8FAFC"/>
                </a:solidFill>
                <a:latin typeface="Arial"/>
              </a:rPr>
              <a:t>Readiness for Review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8484" y="2377440"/>
            <a:ext cx="296052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Working Application Prototype: </a:t>
            </a:r>
            <a:r>
              <a:rPr sz="1150">
                <a:solidFill>
                  <a:srgbClr val="475569"/>
                </a:solidFill>
                <a:latin typeface="Calibri"/>
              </a:rPr>
              <a:t>Python DB-API connector ready to interface with normalized schema.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Analytical Views Implemented: </a:t>
            </a:r>
            <a:r>
              <a:rPr sz="1150">
                <a:solidFill>
                  <a:srgbClr val="475569"/>
                </a:solidFill>
                <a:latin typeface="Calibri"/>
              </a:rPr>
              <a:t>6 SQL views compiled for occupancy, box office, and net revenue reporting.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Test Suite Formulated: </a:t>
            </a:r>
            <a:r>
              <a:rPr sz="1150">
                <a:solidFill>
                  <a:srgbClr val="475569"/>
                </a:solidFill>
                <a:latin typeface="Calibri"/>
              </a:rPr>
              <a:t>10 end-to-end positive and negative test cases prepared for live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Arial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1800">
                <a:solidFill>
                  <a:srgbClr val="94A3B8"/>
                </a:solidFill>
                <a:latin typeface="Calibri"/>
              </a:rPr>
              <a:t>Review 2 Completed: Schema Normalized to 3NF with Validated Dual Triggers.</a:t>
            </a:r>
          </a:p>
          <a:p>
            <a:pPr algn="ctr">
              <a:spcBef>
                <a:spcPts val="2400"/>
              </a:spcBef>
            </a:pPr>
            <a:r>
              <a:rPr sz="1400" b="1">
                <a:solidFill>
                  <a:srgbClr val="38BDF8"/>
                </a:solidFill>
                <a:latin typeface="Arial"/>
              </a:rPr>
              <a:t>Questions &amp; Faculty Evaluation | Prof. Sahithi, School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