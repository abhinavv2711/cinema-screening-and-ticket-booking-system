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4389120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WOXSEN UNIVERSITY | SCHOOL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BDF8"/>
                </a:solidFill>
                <a:latin typeface="Arial"/>
              </a:rPr>
              <a:t>REVIEW 1 — PROJECT PROPOSAL &amp; CONCEPTUAL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Arial"/>
              </a:rPr>
              <a:t>Cinema Screening and Ticket Booking System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CBD5E1"/>
                </a:solidFill>
                <a:latin typeface="Calibri"/>
              </a:rPr>
              <a:t>Review 1: Problem Statement, Operational Scope &amp; Conceptual 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600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/>
            <a:r>
              <a:rPr sz="1400" b="1">
                <a:solidFill>
                  <a:srgbClr val="F8FAFC"/>
                </a:solidFill>
                <a:latin typeface="Arial"/>
              </a:rPr>
              <a:t>Student: G. Abhinav  |  Roll No: WU0102089  |  Section: AIML Rhinos (Batch 2025–2029)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94A3B8"/>
                </a:solidFill>
                <a:latin typeface="Calibri"/>
              </a:rPr>
              <a:t>Course: Database Management Systems (DBMS) — PBL Activity  |  Faculty Guide: Prof. Sahithi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Program: B.Tech in Computer Science and Engineering (AI &amp; ML)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CONTEXT &amp; MOTIVATION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Multiplex Operational Challenges &amp; The Need for an RDBMS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1: Proposal &amp; Conceptual Modeling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04307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Legacy Operational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Concurrency Collisions: </a:t>
            </a:r>
            <a:r>
              <a:rPr sz="1150">
                <a:solidFill>
                  <a:srgbClr val="475569"/>
                </a:solidFill>
                <a:latin typeface="Calibri"/>
              </a:rPr>
              <a:t>Unsynchronized file or manual records allow simultaneous reservation of identical chairs, causing customer disputes.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Auditorium Overlaps: </a:t>
            </a:r>
            <a:r>
              <a:rPr sz="1150">
                <a:solidFill>
                  <a:srgbClr val="475569"/>
                </a:solidFill>
                <a:latin typeface="Calibri"/>
              </a:rPr>
              <a:t>Consecutive shows scheduled without cleaning/turnaround buffers cause screen runtime collisions.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Concession Inventory Leaks: </a:t>
            </a:r>
            <a:r>
              <a:rPr sz="1150">
                <a:solidFill>
                  <a:srgbClr val="475569"/>
                </a:solidFill>
                <a:latin typeface="Calibri"/>
              </a:rPr>
              <a:t>Food and beverage sales managed independently from ticket counters risk inventory shortages and negative stock.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Unregulated Refunds: </a:t>
            </a:r>
            <a:r>
              <a:rPr sz="1150">
                <a:solidFill>
                  <a:srgbClr val="475569"/>
                </a:solidFill>
                <a:latin typeface="Calibri"/>
              </a:rPr>
              <a:t>Cancellation records lack cumulative refund ceilings, allowing financial leakage exceeding paid amounts.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5204307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Proposed RDBMS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Unified Relational Engine: </a:t>
            </a:r>
            <a:r>
              <a:rPr sz="1150">
                <a:solidFill>
                  <a:srgbClr val="475569"/>
                </a:solidFill>
                <a:latin typeface="Calibri"/>
              </a:rPr>
              <a:t>Centralizes theaters, auditoriums, film schedules, seating layouts, concessions, and financial ledgers.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ACID Transaction Isolation: </a:t>
            </a:r>
            <a:r>
              <a:rPr sz="1150">
                <a:solidFill>
                  <a:srgbClr val="475569"/>
                </a:solidFill>
                <a:latin typeface="Calibri"/>
              </a:rPr>
              <a:t>Atomic multi-row booking locks seats exclusively during checkout, completely eliminating double-booking.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Declarative &amp; Trigger Logic: </a:t>
            </a:r>
            <a:r>
              <a:rPr sz="1150">
                <a:solidFill>
                  <a:srgbClr val="475569"/>
                </a:solidFill>
                <a:latin typeface="Calibri"/>
              </a:rPr>
              <a:t>Enforces a mandatory 15-minute turnaround buffer between shows and caps cumulative refunds at database level.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Integrated Analytics: </a:t>
            </a:r>
            <a:r>
              <a:rPr sz="1150">
                <a:solidFill>
                  <a:srgbClr val="475569"/>
                </a:solidFill>
                <a:latin typeface="Calibri"/>
              </a:rPr>
              <a:t>Automates real-time business intelligence for show occupancy, box office gross, and screen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SYSTEM BOUNDARIES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Core Project Objectives &amp; Functional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1: Proposal &amp; Conceptual Modeling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Core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Formal Conceptual Model: </a:t>
            </a:r>
            <a:r>
              <a:rPr sz="1150">
                <a:solidFill>
                  <a:srgbClr val="475569"/>
                </a:solidFill>
                <a:latin typeface="Calibri"/>
              </a:rPr>
              <a:t>Formulate 15 interconnected entities with verified participation and cardinalities.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Normalization up to 3NF: </a:t>
            </a:r>
            <a:r>
              <a:rPr sz="1150">
                <a:solidFill>
                  <a:srgbClr val="475569"/>
                </a:solidFill>
                <a:latin typeface="Calibri"/>
              </a:rPr>
              <a:t>Eliminate data redundancy and update anomalies via functional dependency analysis.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Enforce Integrity Rules: </a:t>
            </a:r>
            <a:r>
              <a:rPr sz="1150">
                <a:solidFill>
                  <a:srgbClr val="475569"/>
                </a:solidFill>
                <a:latin typeface="Calibri"/>
              </a:rPr>
              <a:t>Guard double-booking, 15-min turnaround buffer, and refund limits in SQL DDL &amp; triggers.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Interactive Prototype: </a:t>
            </a:r>
            <a:r>
              <a:rPr sz="1150">
                <a:solidFill>
                  <a:srgbClr val="475569"/>
                </a:solidFill>
                <a:latin typeface="Calibri"/>
              </a:rPr>
              <a:t>Construct an operational Python application with CLI workflows and visual seat matrices.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418" y="1691640"/>
            <a:ext cx="336285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Functional Inclusions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Multi-Theater Support: </a:t>
            </a:r>
            <a:r>
              <a:rPr sz="1150">
                <a:solidFill>
                  <a:srgbClr val="475569"/>
                </a:solidFill>
                <a:latin typeface="Calibri"/>
              </a:rPr>
              <a:t>Model multiple cinema branches, multi-format auditoriums (IMAX, 4DX, Standard), and tiered seating.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Cryptographic Ticketing: </a:t>
            </a:r>
            <a:r>
              <a:rPr sz="1150">
                <a:solidFill>
                  <a:srgbClr val="475569"/>
                </a:solidFill>
                <a:latin typeface="Calibri"/>
              </a:rPr>
              <a:t>Issue verified e-tickets with unique serial numbers and SHA-256 digital security barcode hashes.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F&amp;B Inventory Sync: </a:t>
            </a:r>
            <a:r>
              <a:rPr sz="1150">
                <a:solidFill>
                  <a:srgbClr val="475569"/>
                </a:solidFill>
                <a:latin typeface="Calibri"/>
              </a:rPr>
              <a:t>Automatic live decrementing of concession stock upon confirmed customer orders.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Cancellation Workflow: </a:t>
            </a:r>
            <a:r>
              <a:rPr sz="1150">
                <a:solidFill>
                  <a:srgbClr val="475569"/>
                </a:solidFill>
                <a:latin typeface="Calibri"/>
              </a:rPr>
              <a:t>Pre-showtime booking cancellation retaining 10% fee and enforcing policy refund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System Exclusions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8484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Physical Turnstiles: </a:t>
            </a:r>
            <a:r>
              <a:rPr sz="1150">
                <a:solidFill>
                  <a:srgbClr val="475569"/>
                </a:solidFill>
                <a:latin typeface="Calibri"/>
              </a:rPr>
              <a:t>Hardware gate integration excluded; simulated via digital barcode cryptographic hashes.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Live Merchant Gateway: </a:t>
            </a:r>
            <a:r>
              <a:rPr sz="1150">
                <a:solidFill>
                  <a:srgbClr val="475569"/>
                </a:solidFill>
                <a:latin typeface="Calibri"/>
              </a:rPr>
              <a:t>External banking APIs simulated via validated transaction reference hashes.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Buffer Standard: </a:t>
            </a:r>
            <a:r>
              <a:rPr sz="1150">
                <a:solidFill>
                  <a:srgbClr val="475569"/>
                </a:solidFill>
                <a:latin typeface="Calibri"/>
              </a:rPr>
              <a:t>Standardizes mandatory cleaning turnaround buffer at exactly 15 minutes between shows.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ENTITY ARCHITECTURE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15 Interconnected Relational Entities Across 3 Functional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1: Proposal &amp; Conceptual Modeling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Theater &amp; Catalog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CINEMAS: </a:t>
            </a:r>
            <a:r>
              <a:rPr sz="1150">
                <a:solidFill>
                  <a:srgbClr val="475569"/>
                </a:solidFill>
                <a:latin typeface="Calibri"/>
              </a:rPr>
              <a:t>Stores multiplex location, address, total screens, contact phone, and strictly unique email.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SCREENS: </a:t>
            </a:r>
            <a:r>
              <a:rPr sz="1150">
                <a:solidFill>
                  <a:srgbClr val="475569"/>
                </a:solidFill>
                <a:latin typeface="Calibri"/>
              </a:rPr>
              <a:t>Auditoriums with projection format (IMAX 3D, 4DX, Standard) and capacity specifications.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SEATS: </a:t>
            </a:r>
            <a:r>
              <a:rPr sz="1150">
                <a:solidFill>
                  <a:srgbClr val="475569"/>
                </a:solidFill>
                <a:latin typeface="Calibri"/>
              </a:rPr>
              <a:t>Physical chairs with tier classifications (Silver, Gold, Platinum) and base tier pricing.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MOVIES: </a:t>
            </a:r>
            <a:r>
              <a:rPr sz="1150">
                <a:solidFill>
                  <a:srgbClr val="475569"/>
                </a:solidFill>
                <a:latin typeface="Calibri"/>
              </a:rPr>
              <a:t>Film catalog capturing runtime duration (&gt; 0), certification rating (U, UA, A, R), and spoken languages.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418" y="1691640"/>
            <a:ext cx="336285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Ticketing &amp; Reservation 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CUSTOMERS: </a:t>
            </a:r>
            <a:r>
              <a:rPr sz="1150">
                <a:solidFill>
                  <a:srgbClr val="475569"/>
                </a:solidFill>
                <a:latin typeface="Calibri"/>
              </a:rPr>
              <a:t>Registered patron profiles with unique email address credentials and phone contact.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SCREENINGS: </a:t>
            </a:r>
            <a:r>
              <a:rPr sz="1150">
                <a:solidFill>
                  <a:srgbClr val="475569"/>
                </a:solidFill>
                <a:latin typeface="Calibri"/>
              </a:rPr>
              <a:t>Scheduled showtime slots with runtime validity checks and 15-min turnaround buffers.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BOOKINGS: </a:t>
            </a:r>
            <a:r>
              <a:rPr sz="1150">
                <a:solidFill>
                  <a:srgbClr val="475569"/>
                </a:solidFill>
                <a:latin typeface="Calibri"/>
              </a:rPr>
              <a:t>Master reservation header tracking total price, booking time, and lifecycle status.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BOOKED_SEATS: </a:t>
            </a:r>
            <a:r>
              <a:rPr sz="1150">
                <a:solidFill>
                  <a:srgbClr val="475569"/>
                </a:solidFill>
                <a:latin typeface="Calibri"/>
              </a:rPr>
              <a:t>Seat allocation junction enforcing single occupancy per screening via unique index.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TICKETS: </a:t>
            </a:r>
            <a:r>
              <a:rPr sz="1150">
                <a:solidFill>
                  <a:srgbClr val="475569"/>
                </a:solidFill>
                <a:latin typeface="Calibri"/>
              </a:rPr>
              <a:t>Issued digital e-tickets bearing unique serial numbers and SHA-256 barcode hashes.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PAYMENTS: </a:t>
            </a:r>
            <a:r>
              <a:rPr sz="1150">
                <a:solidFill>
                  <a:srgbClr val="475569"/>
                </a:solidFill>
                <a:latin typeface="Calibri"/>
              </a:rPr>
              <a:t>Financial ledger capturing payment methods (UPI, Card, Cash) and gateway hashes.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Concessions &amp; Policy Subsystem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8484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CONCESSION_ITEMS: </a:t>
            </a:r>
            <a:r>
              <a:rPr sz="1150">
                <a:solidFill>
                  <a:srgbClr val="475569"/>
                </a:solidFill>
                <a:latin typeface="Calibri"/>
              </a:rPr>
              <a:t>Menu catalog tracking category, unit price, and live inventory stock (DEFAULT 0).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ORDERS: </a:t>
            </a:r>
            <a:r>
              <a:rPr sz="1150">
                <a:solidFill>
                  <a:srgbClr val="475569"/>
                </a:solidFill>
                <a:latin typeface="Calibri"/>
              </a:rPr>
              <a:t>Concession purchase order header linked to customers and optional movie bookings.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ORDER_ITEMS: </a:t>
            </a:r>
            <a:r>
              <a:rPr sz="1150">
                <a:solidFill>
                  <a:srgbClr val="475569"/>
                </a:solidFill>
                <a:latin typeface="Calibri"/>
              </a:rPr>
              <a:t>Order line items enforcing strictly positive purchase quantity (quantity &gt; 0).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CANCELLATIONS: </a:t>
            </a:r>
            <a:r>
              <a:rPr sz="1150">
                <a:solidFill>
                  <a:srgbClr val="475569"/>
                </a:solidFill>
                <a:latin typeface="Calibri"/>
              </a:rPr>
              <a:t>Audit record capturing booking voidance justification and 10% administrative fee retention.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REFUNDS: </a:t>
            </a:r>
            <a:r>
              <a:rPr sz="1150">
                <a:solidFill>
                  <a:srgbClr val="475569"/>
                </a:solidFill>
                <a:latin typeface="Calibri"/>
              </a:rPr>
              <a:t>Monetary disbursements constrained by cumulative original payment ceilings.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CONCEPTUAL MODELING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Entity-Relationship Diagram (15 Relational Entities &amp; Relationships)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1: Proposal &amp; Conceptual Modeling  |  G. Abhinav (WU0102089)</a:t>
            </a:r>
          </a:p>
        </p:txBody>
      </p:sp>
      <p:pic>
        <p:nvPicPr>
          <p:cNvPr id="6" name="Picture 5" descr="fig1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1036289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REVIEW 1 ACCOMPLISHMENTS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Project Milestones Achieved &amp; Readiness for Logical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1: Proposal &amp; Conceptual Modeling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Conceptual Model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15 Core Entities: </a:t>
            </a:r>
            <a:r>
              <a:rPr sz="1150">
                <a:solidFill>
                  <a:srgbClr val="475569"/>
                </a:solidFill>
                <a:latin typeface="Calibri"/>
              </a:rPr>
              <a:t>Comprehensive modeling of all physical, transactional, and audit entities.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Verified Cardinalities: </a:t>
            </a:r>
            <a:r>
              <a:rPr sz="1150">
                <a:solidFill>
                  <a:srgbClr val="475569"/>
                </a:solidFill>
                <a:latin typeface="Calibri"/>
              </a:rPr>
              <a:t>Established 1:N theater-to-screen, 1:N screen-to-seat, 1:1 seat-to-ticket, and 1:1 booking-to-cancellation links.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Ambiguity: </a:t>
            </a:r>
            <a:r>
              <a:rPr sz="1150">
                <a:solidFill>
                  <a:srgbClr val="475569"/>
                </a:solidFill>
                <a:latin typeface="Calibri"/>
              </a:rPr>
              <a:t>All primary keys, foreign keys, and unique domain constraints identified.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418" y="1691640"/>
            <a:ext cx="336285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Core Business Rules Formalized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Double-Booking: </a:t>
            </a:r>
            <a:r>
              <a:rPr sz="1150">
                <a:solidFill>
                  <a:srgbClr val="475569"/>
                </a:solidFill>
                <a:latin typeface="Calibri"/>
              </a:rPr>
              <a:t>Defined partial unique index requirement on active seat bookings.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15-Min Turnaround Buffer: </a:t>
            </a:r>
            <a:r>
              <a:rPr sz="1150">
                <a:solidFill>
                  <a:srgbClr val="475569"/>
                </a:solidFill>
                <a:latin typeface="Calibri"/>
              </a:rPr>
              <a:t>Formulated time overlap condition preventing auditorium schedule collisions.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Inventory Safeguards: </a:t>
            </a:r>
            <a:r>
              <a:rPr sz="1150">
                <a:solidFill>
                  <a:srgbClr val="475569"/>
                </a:solidFill>
                <a:latin typeface="Calibri"/>
              </a:rPr>
              <a:t>Specified automatic inventory decrement and positive stock constraints.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Refund Ceilings: </a:t>
            </a:r>
            <a:r>
              <a:rPr sz="1150">
                <a:solidFill>
                  <a:srgbClr val="475569"/>
                </a:solidFill>
                <a:latin typeface="Calibri"/>
              </a:rPr>
              <a:t>Established rule that cumulative refunds cannot exceed payment amount.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Readiness for Review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8484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Relational Mapping: </a:t>
            </a:r>
            <a:r>
              <a:rPr sz="1150">
                <a:solidFill>
                  <a:srgbClr val="475569"/>
                </a:solidFill>
                <a:latin typeface="Calibri"/>
              </a:rPr>
              <a:t>Ready to transform conceptual ER entities into formal 3NF relational tables.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Functional Dependencies: </a:t>
            </a:r>
            <a:r>
              <a:rPr sz="1150">
                <a:solidFill>
                  <a:srgbClr val="475569"/>
                </a:solidFill>
                <a:latin typeface="Calibri"/>
              </a:rPr>
              <a:t>All determinant-dependent attribute mappings documented for normalization.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SQL DDL Formulation: </a:t>
            </a:r>
            <a:r>
              <a:rPr sz="1150">
                <a:solidFill>
                  <a:srgbClr val="475569"/>
                </a:solidFill>
                <a:latin typeface="Calibri"/>
              </a:rPr>
              <a:t>Full ANSI-SQL schema with tables, triggers, and analytical views prepared.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Arial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1800">
                <a:solidFill>
                  <a:srgbClr val="94A3B8"/>
                </a:solidFill>
                <a:latin typeface="Calibri"/>
              </a:rPr>
              <a:t>Review 1 Completed: Conceptual Model and ER Architecture Formulated.</a:t>
            </a:r>
          </a:p>
          <a:p>
            <a:pPr algn="ctr">
              <a:spcBef>
                <a:spcPts val="2400"/>
              </a:spcBef>
            </a:pPr>
            <a:r>
              <a:rPr sz="1400" b="1">
                <a:solidFill>
                  <a:srgbClr val="38BDF8"/>
                </a:solidFill>
                <a:latin typeface="Arial"/>
              </a:rPr>
              <a:t>Questions &amp; Faculty Evaluation | Prof. Sahithi, School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