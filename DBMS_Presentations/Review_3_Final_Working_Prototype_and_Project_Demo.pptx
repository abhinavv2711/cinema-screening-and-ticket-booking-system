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4389120" cy="38404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Arial"/>
              </a:rPr>
              <a:t>WOXSEN UNIVERSITY | SCHOOL OF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8BDF8"/>
                </a:solidFill>
                <a:latin typeface="Arial"/>
              </a:rPr>
              <a:t>REVIEW 3 — FINAL WORKING PROTOTYPE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Arial"/>
              </a:rPr>
              <a:t>Cinema Screening and Ticket Booking System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CBD5E1"/>
                </a:solidFill>
                <a:latin typeface="Calibri"/>
              </a:rPr>
              <a:t>Review 3: Final Working Prototype, Live Demo, Testing Suite &amp; Executive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728655" cy="1600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/>
          <a:lstStyle/>
          <a:p>
            <a:pPr algn="ctr"/>
            <a:r>
              <a:rPr sz="1400" b="1">
                <a:solidFill>
                  <a:srgbClr val="F8FAFC"/>
                </a:solidFill>
                <a:latin typeface="Arial"/>
              </a:rPr>
              <a:t>Student: G. Abhinav  |  Roll No: WU0102089  |  Section: AIML Rhinos (Batch 2025–2029)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94A3B8"/>
                </a:solidFill>
                <a:latin typeface="Calibri"/>
              </a:rPr>
              <a:t>Course: Database Management Systems (DBMS) — PBL Activity  |  Faculty Guide: Prof. Sahithi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Program: B.Tech in Computer Science and Engineering (AI &amp; ML)  |  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SYSTEM ARCHITECTURE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Three-Tier Software Architecture &amp; Integrated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3: Final Working Prototype &amp; Demo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62858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Presentation Tier (CLI)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Interactive Terminal Interface: </a:t>
            </a:r>
            <a:r>
              <a:rPr sz="1150">
                <a:solidFill>
                  <a:srgbClr val="475569"/>
                </a:solidFill>
                <a:latin typeface="Calibri"/>
              </a:rPr>
              <a:t>Terminal console offering 9 interactive operational choices with colored status cues.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Dynamic 2D Seat Matrix: </a:t>
            </a:r>
            <a:r>
              <a:rPr sz="1150">
                <a:solidFill>
                  <a:srgbClr val="475569"/>
                </a:solidFill>
                <a:latin typeface="Calibri"/>
              </a:rPr>
              <a:t>Real-time visual auditorium seat matrix displaying seat numbers, tiers, and availability.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Cross-Platform Launchers: </a:t>
            </a:r>
            <a:r>
              <a:rPr sz="1150">
                <a:solidFill>
                  <a:srgbClr val="475569"/>
                </a:solidFill>
                <a:latin typeface="Calibri"/>
              </a:rPr>
              <a:t>Provided run_app.bat (Windows 1-click launcher) and run_app.sh (Linux/macOS terminal script).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4418" y="1691640"/>
            <a:ext cx="3362858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Application Logic Tier (Python)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5586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Standard PEP 249 DB-API: </a:t>
            </a:r>
            <a:r>
              <a:rPr sz="1150">
                <a:solidFill>
                  <a:srgbClr val="475569"/>
                </a:solidFill>
                <a:latin typeface="Calibri"/>
              </a:rPr>
              <a:t>Standard library sqlite3 connector using parameterized SQL queries to prevent SQL injection.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Cryptographic Generator: </a:t>
            </a:r>
            <a:r>
              <a:rPr sz="1150">
                <a:solidFill>
                  <a:srgbClr val="475569"/>
                </a:solidFill>
                <a:latin typeface="Calibri"/>
              </a:rPr>
              <a:t>Python hashlib producing verifiable SHA-256 digital security ticket hashes.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Transaction Controller: </a:t>
            </a:r>
            <a:r>
              <a:rPr sz="1150">
                <a:solidFill>
                  <a:srgbClr val="475569"/>
                </a:solidFill>
                <a:latin typeface="Calibri"/>
              </a:rPr>
              <a:t>Coordinates multi-table ACID transaction boundaries across reservations and orders.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7316" y="1691640"/>
            <a:ext cx="3362858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Persistence Tier (SQLite RDBMS)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8484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ANSI SQL Relational Engine: </a:t>
            </a:r>
            <a:r>
              <a:rPr sz="1150">
                <a:solidFill>
                  <a:srgbClr val="475569"/>
                </a:solidFill>
                <a:latin typeface="Calibri"/>
              </a:rPr>
              <a:t>Zero-configuration embedded database enforcing foreign keys, check constraints, and triggers.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Self-Healing Database: </a:t>
            </a:r>
            <a:r>
              <a:rPr sz="1150">
                <a:solidFill>
                  <a:srgbClr val="475569"/>
                </a:solidFill>
                <a:latin typeface="Calibri"/>
              </a:rPr>
              <a:t>Auto-initializes schema and populates seed data if database is missing or empty.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Pre-Compiled Views: </a:t>
            </a:r>
            <a:r>
              <a:rPr sz="1150">
                <a:solidFill>
                  <a:srgbClr val="475569"/>
                </a:solidFill>
                <a:latin typeface="Calibri"/>
              </a:rPr>
              <a:t>6 optimized SQL reporting views computing live occupancy, box office, and net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OPERATIONAL WORKFLOW 1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Master Show Catalog &amp; Live 2D Auditorium Seating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3: Final Working Prototype &amp; Demo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754880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Show Scheduling &amp; Visual Seat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352544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Real-Time Catalog (Option 1): </a:t>
            </a:r>
            <a:r>
              <a:rPr sz="1150">
                <a:solidFill>
                  <a:srgbClr val="475569"/>
                </a:solidFill>
                <a:latin typeface="Calibri"/>
              </a:rPr>
              <a:t>Queries screenings joined with cinemas, screens, and movies, showing format, date, time, and price.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Non-Overlapping Schedules: </a:t>
            </a:r>
            <a:r>
              <a:rPr sz="1150">
                <a:solidFill>
                  <a:srgbClr val="475569"/>
                </a:solidFill>
                <a:latin typeface="Calibri"/>
              </a:rPr>
              <a:t>Guaranteed collision-free showtimes enforced by the 15-minute turnaround buffer trigger.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Visual 2D Seat Matrix (Option 2): </a:t>
            </a:r>
            <a:r>
              <a:rPr sz="1150">
                <a:solidFill>
                  <a:srgbClr val="475569"/>
                </a:solidFill>
                <a:latin typeface="Calibri"/>
              </a:rPr>
              <a:t>Renders rows A through E with Silver (Rs.300), Gold (Rs.400), and Platinum (Rs.550) pricing.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Instant Occupancy State: </a:t>
            </a:r>
            <a:r>
              <a:rPr sz="1150">
                <a:solidFill>
                  <a:srgbClr val="475569"/>
                </a:solidFill>
                <a:latin typeface="Calibri"/>
              </a:rPr>
              <a:t>Displays [04] [05] for free seats and [X] for reserved seats dynamically queried from booked_seats.</a:t>
            </a:r>
          </a:p>
        </p:txBody>
      </p:sp>
      <p:pic>
        <p:nvPicPr>
          <p:cNvPr id="9" name="Picture 8" descr="fig2_seat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91640"/>
            <a:ext cx="5650992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OPERATIONAL WORKFLOW 2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ACID Multi-Seat Booking Engine &amp; Cryptographic E-Ticket Issuance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3: Final Working Prototype &amp; Demo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754880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Atomic Booking &amp; E-Ticket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352544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Multi-Seat Reservation (Option 3): </a:t>
            </a:r>
            <a:r>
              <a:rPr sz="1150">
                <a:solidFill>
                  <a:srgbClr val="475569"/>
                </a:solidFill>
                <a:latin typeface="Calibri"/>
              </a:rPr>
              <a:t>User enters seat IDs (e.g. 15, 16); system checks collision against partial unique index.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ACID Transaction Isolation: </a:t>
            </a:r>
            <a:r>
              <a:rPr sz="1150">
                <a:solidFill>
                  <a:srgbClr val="475569"/>
                </a:solidFill>
                <a:latin typeface="Calibri"/>
              </a:rPr>
              <a:t>BEGIN TRANSACTION encapsulates booking header, seat rows, tickets, and payment ledger.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Cryptographic Digital Hashing: </a:t>
            </a:r>
            <a:r>
              <a:rPr sz="1150">
                <a:solidFill>
                  <a:srgbClr val="475569"/>
                </a:solidFill>
                <a:latin typeface="Calibri"/>
              </a:rPr>
              <a:t>Generates unique ticket numbers and 16-character SHA-256 digital hashes for turnstile validation.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Payment Ledger Settlement: </a:t>
            </a:r>
            <a:r>
              <a:rPr sz="1150">
                <a:solidFill>
                  <a:srgbClr val="475569"/>
                </a:solidFill>
                <a:latin typeface="Calibri"/>
              </a:rPr>
              <a:t>Records financial receipt across UPI, Credit/Debit Card, Net Banking, or Cash atomically.</a:t>
            </a:r>
          </a:p>
        </p:txBody>
      </p:sp>
      <p:pic>
        <p:nvPicPr>
          <p:cNvPr id="9" name="Picture 8" descr="fig3_booking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91640"/>
            <a:ext cx="5650992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OPERATIONAL WORKFLOW 3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Concession Inventory Management &amp; Policy-Compliant Cancellations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3: Final Working Prototype &amp; Demo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754880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Retail &amp; Cancellation Safeguards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352544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Live Stock Verification (Option 4): </a:t>
            </a:r>
            <a:r>
              <a:rPr sz="1150">
                <a:solidFill>
                  <a:srgbClr val="475569"/>
                </a:solidFill>
                <a:latin typeface="Calibri"/>
              </a:rPr>
              <a:t>Validates snack inventory (Large Popcorn, Nachos, Coca Cola) prior to purchase confirmation.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Automatic Stock Depletion: </a:t>
            </a:r>
            <a:r>
              <a:rPr sz="1150">
                <a:solidFill>
                  <a:srgbClr val="475569"/>
                </a:solidFill>
                <a:latin typeface="Calibri"/>
              </a:rPr>
              <a:t>Atomically decrements stock_quantity upon order placement, preventing warehouse overselling.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Pre-Showtime Cancellation (Option 5): </a:t>
            </a:r>
            <a:r>
              <a:rPr sz="1150">
                <a:solidFill>
                  <a:srgbClr val="475569"/>
                </a:solidFill>
                <a:latin typeface="Calibri"/>
              </a:rPr>
              <a:t>Enforces that bookings can only be cancelled prior to movie screening commencement.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10% Administrative Fee &amp; Limits: </a:t>
            </a:r>
            <a:r>
              <a:rPr sz="1150">
                <a:solidFill>
                  <a:srgbClr val="475569"/>
                </a:solidFill>
                <a:latin typeface="Calibri"/>
              </a:rPr>
              <a:t>Retains 10% fee and disburses 90% refund, strictly governed by cumulative payment ceilings.</a:t>
            </a:r>
          </a:p>
        </p:txBody>
      </p:sp>
      <p:pic>
        <p:nvPicPr>
          <p:cNvPr id="9" name="Picture 8" descr="fig4_concession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91640"/>
            <a:ext cx="5650992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QUALITY ASSURANCE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Rigorous Verification: 10 Positive &amp; Negative Test Cases (100% Pass)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3: Final Working Prototype &amp; Demo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04307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04307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Functional Workflow Tests (TC 01–05)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801971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TC-01 Show Scheduling: </a:t>
            </a:r>
            <a:r>
              <a:rPr sz="1150">
                <a:solidFill>
                  <a:srgbClr val="475569"/>
                </a:solidFill>
                <a:latin typeface="Calibri"/>
              </a:rPr>
              <a:t>PASSED — Valid screening inserted into database; unique ID generated.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TC-02 Overlap Rejection: </a:t>
            </a:r>
            <a:r>
              <a:rPr sz="1150">
                <a:solidFill>
                  <a:srgbClr val="475569"/>
                </a:solidFill>
                <a:latin typeface="Calibri"/>
              </a:rPr>
              <a:t>PASSED — Trigger intercepts collision within 15-min turnaround buffer.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TC-03 Seat Matrix Display: </a:t>
            </a:r>
            <a:r>
              <a:rPr sz="1150">
                <a:solidFill>
                  <a:srgbClr val="475569"/>
                </a:solidFill>
                <a:latin typeface="Calibri"/>
              </a:rPr>
              <a:t>PASSED — Displays visual rows A–E with accurate occupancy symbols.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TC-04 Double-Booking Lock: </a:t>
            </a:r>
            <a:r>
              <a:rPr sz="1150">
                <a:solidFill>
                  <a:srgbClr val="475569"/>
                </a:solidFill>
                <a:latin typeface="Calibri"/>
              </a:rPr>
              <a:t>PASSED — Unique index aborts duplicate seat booking with transaction rollback.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TC-05 Atomic Booking &amp; Pay: </a:t>
            </a:r>
            <a:r>
              <a:rPr sz="1150">
                <a:solidFill>
                  <a:srgbClr val="475569"/>
                </a:solidFill>
                <a:latin typeface="Calibri"/>
              </a:rPr>
              <a:t>PASSED — Booking header, 2 seats, 2 tickets, and payment committed atomically.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691640"/>
            <a:ext cx="5204307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5867" y="1691640"/>
            <a:ext cx="5204307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Integrity Constraint Tests (TC 06–10)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035" y="2377440"/>
            <a:ext cx="4801971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TC-06 Concession Depletion: </a:t>
            </a:r>
            <a:r>
              <a:rPr sz="1150">
                <a:solidFill>
                  <a:srgbClr val="475569"/>
                </a:solidFill>
                <a:latin typeface="Calibri"/>
              </a:rPr>
              <a:t>PASSED — Ordering 2x Popcorn decrements live stock from 150 to 148.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TC-07 Negative Quantity Check: </a:t>
            </a:r>
            <a:r>
              <a:rPr sz="1150">
                <a:solidFill>
                  <a:srgbClr val="475569"/>
                </a:solidFill>
                <a:latin typeface="Calibri"/>
              </a:rPr>
              <a:t>PASSED — CHECK constraint rejects quantity = -2 with rollback.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TC-08 Refund Overflow Check: </a:t>
            </a:r>
            <a:r>
              <a:rPr sz="1150">
                <a:solidFill>
                  <a:srgbClr val="475569"/>
                </a:solidFill>
                <a:latin typeface="Calibri"/>
              </a:rPr>
              <a:t>PASSED — Trigger rejects refund exceeding original payment.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TC-09 Cancellation Execution: </a:t>
            </a:r>
            <a:r>
              <a:rPr sz="1150">
                <a:solidFill>
                  <a:srgbClr val="475569"/>
                </a:solidFill>
                <a:latin typeface="Calibri"/>
              </a:rPr>
              <a:t>PASSED — Seats released; 10% fee retained; refund reference generated.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TC-10 Executive Analytics: </a:t>
            </a:r>
            <a:r>
              <a:rPr sz="1150">
                <a:solidFill>
                  <a:srgbClr val="475569"/>
                </a:solidFill>
                <a:latin typeface="Calibri"/>
              </a:rPr>
              <a:t>PASSED — Net operating revenue accurately computed across all theaters.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BUSINESS INTELLIGENCE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Executive Reporting Dashboards Powered by 6 Relational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3: Final Working Prototype &amp; Demo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754880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Real-Time Executive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352544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View 1: Show Occupancy: </a:t>
            </a:r>
            <a:r>
              <a:rPr sz="1150">
                <a:solidFill>
                  <a:srgbClr val="475569"/>
                </a:solidFill>
                <a:latin typeface="Calibri"/>
              </a:rPr>
              <a:t>Calculates booked seats, available capacity, and occupancy percentage per screening.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View 2: Box Office Performance: </a:t>
            </a:r>
            <a:r>
              <a:rPr sz="1150">
                <a:solidFill>
                  <a:srgbClr val="475569"/>
                </a:solidFill>
                <a:latin typeface="Calibri"/>
              </a:rPr>
              <a:t>Tracks tickets sold and cumulative gross ticket revenue per movie title.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View 3: Screen Utilization: </a:t>
            </a:r>
            <a:r>
              <a:rPr sz="1150">
                <a:solidFill>
                  <a:srgbClr val="475569"/>
                </a:solidFill>
                <a:latin typeface="Calibri"/>
              </a:rPr>
              <a:t>Computes total operational runtime hours and average screen capacity load.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View 4: Concession Summary: </a:t>
            </a:r>
            <a:r>
              <a:rPr sz="1150">
                <a:solidFill>
                  <a:srgbClr val="475569"/>
                </a:solidFill>
                <a:latin typeface="Calibri"/>
              </a:rPr>
              <a:t>Breaks down total units sold, remaining warehouse stock, and gross revenue by item.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View 6: Net Operating Revenue: </a:t>
            </a:r>
            <a:r>
              <a:rPr sz="1150">
                <a:solidFill>
                  <a:srgbClr val="475569"/>
                </a:solidFill>
                <a:latin typeface="Calibri"/>
              </a:rPr>
              <a:t>Computes Net Revenue = (Ticket Gross + Concessions + Retained Fees) - Refunds Disbursed.</a:t>
            </a:r>
          </a:p>
        </p:txBody>
      </p:sp>
      <p:pic>
        <p:nvPicPr>
          <p:cNvPr id="9" name="Picture 8" descr="fig5_executive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91640"/>
            <a:ext cx="5650992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ACADEMIC CONCLUSION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Project Achievements, Academic Takeaways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3: Final Working Prototype &amp; Demo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04307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04307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Key Academic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801971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Rigorous Relational Design: </a:t>
            </a:r>
            <a:r>
              <a:rPr sz="1150">
                <a:solidFill>
                  <a:srgbClr val="475569"/>
                </a:solidFill>
                <a:latin typeface="Calibri"/>
              </a:rPr>
              <a:t>Successfully translated complex multiplex workflows into 15 normalized 3NF entities.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Database-Level Integrity: </a:t>
            </a:r>
            <a:r>
              <a:rPr sz="1150">
                <a:solidFill>
                  <a:srgbClr val="475569"/>
                </a:solidFill>
                <a:latin typeface="Calibri"/>
              </a:rPr>
              <a:t>Proved that core business rules must be guarded by triggers and constraints rather than UI alone.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Production Transaction Skills: </a:t>
            </a:r>
            <a:r>
              <a:rPr sz="1150">
                <a:solidFill>
                  <a:srgbClr val="475569"/>
                </a:solidFill>
                <a:latin typeface="Calibri"/>
              </a:rPr>
              <a:t>Gained deep hands-on mastery of ACID transaction boundaries in Python with DB-API.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Zero Error Verification: </a:t>
            </a:r>
            <a:r>
              <a:rPr sz="1150">
                <a:solidFill>
                  <a:srgbClr val="475569"/>
                </a:solidFill>
                <a:latin typeface="Calibri"/>
              </a:rPr>
              <a:t>Achieved 100% test pass rate across positive and negative testing vectors.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691640"/>
            <a:ext cx="5204307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5867" y="1691640"/>
            <a:ext cx="5204307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Future Engineering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035" y="2377440"/>
            <a:ext cx="4801971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Dynamic Surge Pricing: </a:t>
            </a:r>
            <a:r>
              <a:rPr sz="1150">
                <a:solidFill>
                  <a:srgbClr val="475569"/>
                </a:solidFill>
                <a:latin typeface="Calibri"/>
              </a:rPr>
              <a:t>Integrate machine learning demand forecasting to dynamically adjust prices by occupancy velocity.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Distributed Cloud Scalability: </a:t>
            </a:r>
            <a:r>
              <a:rPr sz="1150">
                <a:solidFill>
                  <a:srgbClr val="475569"/>
                </a:solidFill>
                <a:latin typeface="Calibri"/>
              </a:rPr>
              <a:t>Migrate to PostgreSQL with PgBouncer connection pooling and Redis seat locking for web scale.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Live Payment Webhooks: </a:t>
            </a:r>
            <a:r>
              <a:rPr sz="1150">
                <a:solidFill>
                  <a:srgbClr val="475569"/>
                </a:solidFill>
                <a:latin typeface="Calibri"/>
              </a:rPr>
              <a:t>Integrate production payment gateway webhooks (Razorpay / Stripe) for automated payment clearing.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Mobile QR Code Scanning: </a:t>
            </a:r>
            <a:r>
              <a:rPr sz="1150">
                <a:solidFill>
                  <a:srgbClr val="475569"/>
                </a:solidFill>
                <a:latin typeface="Calibri"/>
              </a:rPr>
              <a:t>Build mobile cashier app scanning SHA-256 e-ticket QR codes at physical turnstiles.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Arial"/>
              </a:rPr>
              <a:t>THANK YOU</a:t>
            </a:r>
          </a:p>
          <a:p>
            <a:pPr algn="ctr">
              <a:spcBef>
                <a:spcPts val="1600"/>
              </a:spcBef>
            </a:pPr>
            <a:r>
              <a:rPr sz="1800">
                <a:solidFill>
                  <a:srgbClr val="94A3B8"/>
                </a:solidFill>
                <a:latin typeface="Calibri"/>
              </a:rPr>
              <a:t>Cinema Screening and Ticket Booking System Successfully Implemented.</a:t>
            </a:r>
          </a:p>
          <a:p>
            <a:pPr algn="ctr">
              <a:spcBef>
                <a:spcPts val="2400"/>
              </a:spcBef>
            </a:pPr>
            <a:r>
              <a:rPr sz="1400" b="1">
                <a:solidFill>
                  <a:srgbClr val="38BDF8"/>
                </a:solidFill>
                <a:latin typeface="Arial"/>
              </a:rPr>
              <a:t>Questions &amp; Faculty Evaluation | Prof. Sahithi, School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